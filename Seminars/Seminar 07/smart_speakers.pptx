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256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65" r:id="rId24"/>
    <p:sldId id="266" r:id="rId25"/>
    <p:sldId id="257" r:id="rId26"/>
    <p:sldId id="258" r:id="rId27"/>
    <p:sldId id="267" r:id="rId28"/>
    <p:sldId id="270" r:id="rId29"/>
    <p:sldId id="271" r:id="rId30"/>
    <p:sldId id="279" r:id="rId31"/>
    <p:sldId id="272" r:id="rId32"/>
    <p:sldId id="275" r:id="rId33"/>
    <p:sldId id="276" r:id="rId34"/>
    <p:sldId id="278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mp"/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tmp"/><Relationship Id="rId5" Type="http://schemas.openxmlformats.org/officeDocument/2006/relationships/image" Target="../media/image24.tmp"/><Relationship Id="rId4" Type="http://schemas.openxmlformats.org/officeDocument/2006/relationships/image" Target="../media/image23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tmp"/><Relationship Id="rId5" Type="http://schemas.openxmlformats.org/officeDocument/2006/relationships/image" Target="../media/image46.tmp"/><Relationship Id="rId4" Type="http://schemas.openxmlformats.org/officeDocument/2006/relationships/image" Target="../media/image45.tm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6648" y="1214438"/>
            <a:ext cx="10478703" cy="2387600"/>
          </a:xfrm>
        </p:spPr>
        <p:txBody>
          <a:bodyPr>
            <a:normAutofit/>
          </a:bodyPr>
          <a:lstStyle/>
          <a:p>
            <a:r>
              <a:rPr lang="en-US" dirty="0"/>
              <a:t>Algorithms in Smart Speakers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en-US" dirty="0"/>
              <a:t>Signal and Audio Processing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9A358-9571-76D2-C048-CE7DBBFC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in Smart Speakers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871781-6BA4-BB17-BE44-0B2B53E6D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560" y="2141262"/>
            <a:ext cx="2822239" cy="2495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F52F9-91EB-63D7-241C-FEF4C3A33850}"/>
              </a:ext>
            </a:extLst>
          </p:cNvPr>
          <p:cNvSpPr txBox="1"/>
          <p:nvPr/>
        </p:nvSpPr>
        <p:spPr>
          <a:xfrm>
            <a:off x="838200" y="2059806"/>
            <a:ext cx="70256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Adaptive Echo Cancellation (AEC)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Audio Prefiltering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Speaker Direction of Arrival and Beamforming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Voice Activity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Wake phrase detection</a:t>
            </a:r>
            <a:r>
              <a:rPr lang="ru-RU" sz="2400" dirty="0"/>
              <a:t> (</a:t>
            </a:r>
            <a:r>
              <a:rPr lang="en-US" sz="2400" dirty="0"/>
              <a:t>Keyword Spotting)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Automatic Speech Recognition (ASR)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Natural Language Understanding and Responding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Text-To-Speech (TTS)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1243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A671A-6CF1-475A-9E0F-F09ADEB1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Echo Cancellation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F05B8-4B18-0DC3-2925-0F46B2C1BE91}"/>
              </a:ext>
            </a:extLst>
          </p:cNvPr>
          <p:cNvSpPr txBox="1"/>
          <p:nvPr/>
        </p:nvSpPr>
        <p:spPr>
          <a:xfrm>
            <a:off x="838201" y="1771049"/>
            <a:ext cx="11068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Setting:</a:t>
            </a:r>
            <a:r>
              <a:rPr lang="en-US" sz="2800" dirty="0"/>
              <a:t> smart speaker outputs own sound (plays music, speaks, etc.)</a:t>
            </a:r>
          </a:p>
          <a:p>
            <a:endParaRPr lang="en-US" sz="2800" dirty="0"/>
          </a:p>
          <a:p>
            <a:r>
              <a:rPr lang="en-US" sz="2800" b="1" dirty="0"/>
              <a:t>Problem:</a:t>
            </a:r>
            <a:r>
              <a:rPr lang="en-US" sz="2800" dirty="0"/>
              <a:t> this sound reflects from room walls and return to speaker’s microphones</a:t>
            </a:r>
          </a:p>
          <a:p>
            <a:endParaRPr lang="en-US" sz="2800" dirty="0"/>
          </a:p>
          <a:p>
            <a:r>
              <a:rPr lang="en-US" sz="2800" b="1" dirty="0"/>
              <a:t>Goal:</a:t>
            </a:r>
            <a:r>
              <a:rPr lang="en-US" sz="2800" dirty="0"/>
              <a:t> subtract from microphone audio signal the own output sound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392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91943-B951-BEAD-214D-3CC30666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LMS (Least Mean Square)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7C54CC-5F47-9400-69A5-15555E8B9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02" y="1555764"/>
            <a:ext cx="629364" cy="3962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145370-80A1-2212-B519-A5F8B41BC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46" y="2099260"/>
            <a:ext cx="618175" cy="39626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8DF22E-3AB8-66E6-F55D-536E45D6D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236" y="1585414"/>
            <a:ext cx="885534" cy="3683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607046-CBA7-70F4-4507-994768FA7B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30" y="2574910"/>
            <a:ext cx="4626440" cy="88056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0DCC0D6-5E6A-EF48-CC3C-D120DE726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54" y="3702244"/>
            <a:ext cx="2382488" cy="39455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EE4636-7104-6E85-29D7-6040A83DBE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14" y="4274316"/>
            <a:ext cx="2694662" cy="5864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79BA235-E397-6D48-EF3C-7DD83DA33FC9}"/>
              </a:ext>
            </a:extLst>
          </p:cNvPr>
          <p:cNvSpPr txBox="1"/>
          <p:nvPr/>
        </p:nvSpPr>
        <p:spPr>
          <a:xfrm>
            <a:off x="1563815" y="1477991"/>
            <a:ext cx="3589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speaker’s own sound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6A426B-B700-0FC4-2325-FAA6FF172F1D}"/>
              </a:ext>
            </a:extLst>
          </p:cNvPr>
          <p:cNvSpPr txBox="1"/>
          <p:nvPr/>
        </p:nvSpPr>
        <p:spPr>
          <a:xfrm>
            <a:off x="1571839" y="2005776"/>
            <a:ext cx="4992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audio recorded by microphone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2D7E91-32DF-ACD1-F2CC-BFF71C52A0D5}"/>
              </a:ext>
            </a:extLst>
          </p:cNvPr>
          <p:cNvSpPr txBox="1"/>
          <p:nvPr/>
        </p:nvSpPr>
        <p:spPr>
          <a:xfrm>
            <a:off x="7741144" y="1467578"/>
            <a:ext cx="40979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room impulse response at current time moment 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4EB1F7-C6AC-BE66-D8A5-DA287BD0CF90}"/>
              </a:ext>
            </a:extLst>
          </p:cNvPr>
          <p:cNvSpPr txBox="1"/>
          <p:nvPr/>
        </p:nvSpPr>
        <p:spPr>
          <a:xfrm>
            <a:off x="5618645" y="2735016"/>
            <a:ext cx="4992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predicted audio for microphone (assuming user is not speaking)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857EC-3E2C-3B7B-AA88-274BC0DC3DFC}"/>
              </a:ext>
            </a:extLst>
          </p:cNvPr>
          <p:cNvSpPr txBox="1"/>
          <p:nvPr/>
        </p:nvSpPr>
        <p:spPr>
          <a:xfrm>
            <a:off x="3368842" y="3622991"/>
            <a:ext cx="2810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prediction error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B74D51-A306-AC9E-4A41-A88C54A93E86}"/>
              </a:ext>
            </a:extLst>
          </p:cNvPr>
          <p:cNvSpPr txBox="1"/>
          <p:nvPr/>
        </p:nvSpPr>
        <p:spPr>
          <a:xfrm>
            <a:off x="970823" y="4988863"/>
            <a:ext cx="4647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descent update step: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D7201C7-EDFD-0D1E-E01E-E713875852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44" y="5040070"/>
            <a:ext cx="5941667" cy="4623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D964805-05EC-0080-75C1-CF927870B62E}"/>
              </a:ext>
            </a:extLst>
          </p:cNvPr>
          <p:cNvSpPr txBox="1"/>
          <p:nvPr/>
        </p:nvSpPr>
        <p:spPr>
          <a:xfrm>
            <a:off x="963330" y="5703410"/>
            <a:ext cx="10769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Problem: update is proportional to x(n), may lead to instabilities when x(n) is drastically changing </a:t>
            </a:r>
          </a:p>
        </p:txBody>
      </p:sp>
    </p:spTree>
    <p:extLst>
      <p:ext uri="{BB962C8B-B14F-4D97-AF65-F5344CB8AC3E}">
        <p14:creationId xmlns:p14="http://schemas.microsoft.com/office/powerpoint/2010/main" val="63636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B5FE8-9A30-A749-9174-8873871C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NLMS (Normalized LMS)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49BF89-9FF1-AB6E-4EAB-2594596E9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9" y="2010484"/>
            <a:ext cx="3372789" cy="9809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439F4F-1CDD-6AC8-3792-0A3F06F3F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91" y="3714709"/>
            <a:ext cx="3721291" cy="6858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43F3F3-206F-0C8C-04A2-73C7ABBDC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868" y="4557625"/>
            <a:ext cx="6437356" cy="7555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280303-6B47-C653-3074-1394F18E881F}"/>
              </a:ext>
            </a:extLst>
          </p:cNvPr>
          <p:cNvSpPr txBox="1"/>
          <p:nvPr/>
        </p:nvSpPr>
        <p:spPr>
          <a:xfrm>
            <a:off x="895954" y="1417864"/>
            <a:ext cx="1129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find minimal change to previous w(n), that can explain the current d(n)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36049-9011-032B-EB68-89F5F12FF050}"/>
              </a:ext>
            </a:extLst>
          </p:cNvPr>
          <p:cNvSpPr txBox="1"/>
          <p:nvPr/>
        </p:nvSpPr>
        <p:spPr>
          <a:xfrm>
            <a:off x="905579" y="3167390"/>
            <a:ext cx="710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Using Lagrange function the optimal solution is: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80548-184E-31BC-EAB7-345715BAACC1}"/>
              </a:ext>
            </a:extLst>
          </p:cNvPr>
          <p:cNvSpPr txBox="1"/>
          <p:nvPr/>
        </p:nvSpPr>
        <p:spPr>
          <a:xfrm>
            <a:off x="924825" y="4607181"/>
            <a:ext cx="2809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Practical formula: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699E9-37C0-CEF6-10D4-5C7B2C9EBB9F}"/>
              </a:ext>
            </a:extLst>
          </p:cNvPr>
          <p:cNvSpPr txBox="1"/>
          <p:nvPr/>
        </p:nvSpPr>
        <p:spPr>
          <a:xfrm>
            <a:off x="938709" y="5337038"/>
            <a:ext cx="102939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NLMS w(n) are updated on every time moment with large M. For acceleration Frequency Domain Adaptive Filter (FDAF) is used when updates are made by blocks in spectrum domain</a:t>
            </a:r>
          </a:p>
        </p:txBody>
      </p:sp>
    </p:spTree>
    <p:extLst>
      <p:ext uri="{BB962C8B-B14F-4D97-AF65-F5344CB8AC3E}">
        <p14:creationId xmlns:p14="http://schemas.microsoft.com/office/powerpoint/2010/main" val="325734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552C1-61C3-4F4C-DC42-DC3375F3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Prefiltering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0E5A4-601B-2FD3-21E9-347B18E519F5}"/>
              </a:ext>
            </a:extLst>
          </p:cNvPr>
          <p:cNvSpPr txBox="1"/>
          <p:nvPr/>
        </p:nvSpPr>
        <p:spPr>
          <a:xfrm>
            <a:off x="838201" y="1703674"/>
            <a:ext cx="11068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Goal:</a:t>
            </a:r>
            <a:r>
              <a:rPr lang="en-US" sz="2800" dirty="0"/>
              <a:t> filter human input voice from all other noise sounds in the room (hum of refrigerators, keyboard clicking, dog barking, etc.)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9614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26C57-E43A-3CCF-90C4-87D5DF06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Current Offset Removal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CF437D-614E-07A1-D5DB-689640C99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567" y="3794760"/>
            <a:ext cx="6650561" cy="26656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A5D320-DD09-7880-3BD4-67EC3942EFAC}"/>
              </a:ext>
            </a:extLst>
          </p:cNvPr>
          <p:cNvSpPr txBox="1"/>
          <p:nvPr/>
        </p:nvSpPr>
        <p:spPr>
          <a:xfrm>
            <a:off x="838201" y="1617049"/>
            <a:ext cx="11068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Problem:</a:t>
            </a:r>
            <a:r>
              <a:rPr lang="en-US" sz="2800" dirty="0"/>
              <a:t> microphone electronics can add constant shift to registered audio. This influences all other elements of audio processing</a:t>
            </a:r>
          </a:p>
          <a:p>
            <a:endParaRPr lang="en-US" sz="2800" dirty="0"/>
          </a:p>
          <a:p>
            <a:r>
              <a:rPr lang="en-US" sz="2800" b="1" dirty="0"/>
              <a:t>Solution:</a:t>
            </a:r>
            <a:r>
              <a:rPr lang="en-US" sz="2800" dirty="0"/>
              <a:t> apply small IIR filter, that filters out low frequences below 5Hz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276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0E64-75D5-8D94-D163-7E6A905D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B7C4A-259F-D103-E6DC-9596DFAC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Current Offset Removal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417FD3-8BEA-9A18-1A4B-72F76CB0D8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512" y="4526867"/>
            <a:ext cx="5696479" cy="230802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3B058D-89D0-CC82-20AD-5BDAD1198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863" y="1603295"/>
            <a:ext cx="5750114" cy="4214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A92960-DD85-121E-32E8-47D3455F5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005" y="2123931"/>
            <a:ext cx="3029106" cy="76838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BC52DA-5866-F3E5-324A-263542EBE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783" y="2156233"/>
            <a:ext cx="2698889" cy="6477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EE1D45-756D-6108-6D86-B4233A595BA3}"/>
              </a:ext>
            </a:extLst>
          </p:cNvPr>
          <p:cNvSpPr txBox="1"/>
          <p:nvPr/>
        </p:nvSpPr>
        <p:spPr>
          <a:xfrm>
            <a:off x="838201" y="1549674"/>
            <a:ext cx="1492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IIR filter: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7DAD6-6E65-2CE5-C1CB-831D7F512FD8}"/>
              </a:ext>
            </a:extLst>
          </p:cNvPr>
          <p:cNvSpPr txBox="1"/>
          <p:nvPr/>
        </p:nvSpPr>
        <p:spPr>
          <a:xfrm>
            <a:off x="838201" y="2184265"/>
            <a:ext cx="2010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Z-transform: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804CA-F9DE-38A1-70E3-E8ACBDD08DCB}"/>
              </a:ext>
            </a:extLst>
          </p:cNvPr>
          <p:cNvSpPr txBox="1"/>
          <p:nvPr/>
        </p:nvSpPr>
        <p:spPr>
          <a:xfrm>
            <a:off x="6558762" y="2187036"/>
            <a:ext cx="2915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Transfer function: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EEC69-B3BD-5592-B990-C309F40CE41A}"/>
              </a:ext>
            </a:extLst>
          </p:cNvPr>
          <p:cNvSpPr txBox="1"/>
          <p:nvPr/>
        </p:nvSpPr>
        <p:spPr>
          <a:xfrm>
            <a:off x="4483236" y="3928005"/>
            <a:ext cx="3381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Magnitude response: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32EFCC-C10C-01A2-CE35-AB5A46D6C4ED}"/>
              </a:ext>
            </a:extLst>
          </p:cNvPr>
          <p:cNvSpPr txBox="1"/>
          <p:nvPr/>
        </p:nvSpPr>
        <p:spPr>
          <a:xfrm>
            <a:off x="818950" y="2803966"/>
            <a:ext cx="6476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Zero z=0 – constant shift is fully cancelled</a:t>
            </a:r>
          </a:p>
          <a:p>
            <a:r>
              <a:rPr lang="en-US" sz="2800" dirty="0"/>
              <a:t>Pole z=R – filter is stable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3411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C9E2-A6D9-E3AE-5F6D-70156FAD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4431B-0B8F-5617-DADA-386B793D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100 </a:t>
            </a:r>
            <a:r>
              <a:rPr lang="en-US" dirty="0"/>
              <a:t>Hz</a:t>
            </a:r>
            <a:r>
              <a:rPr lang="ru-RU" dirty="0"/>
              <a:t> </a:t>
            </a:r>
            <a:r>
              <a:rPr lang="en-US" dirty="0"/>
              <a:t>High Pass Filter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D05B3A-C8A2-C049-D46D-3966FB63F7C4}"/>
              </a:ext>
            </a:extLst>
          </p:cNvPr>
          <p:cNvSpPr txBox="1"/>
          <p:nvPr/>
        </p:nvSpPr>
        <p:spPr>
          <a:xfrm>
            <a:off x="838201" y="1549674"/>
            <a:ext cx="9682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Human voice has frequencies starting from 80-100 Hz. All lower frequencies are reasonable to filter out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AA618-5F76-E6CE-F224-E5FB777E7F51}"/>
              </a:ext>
            </a:extLst>
          </p:cNvPr>
          <p:cNvSpPr txBox="1"/>
          <p:nvPr/>
        </p:nvSpPr>
        <p:spPr>
          <a:xfrm>
            <a:off x="838201" y="2734223"/>
            <a:ext cx="4946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Butterworth 2-nd order IIR filter: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32B596-04D6-3614-BA13-08EE02B16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334" y="2705347"/>
            <a:ext cx="2914656" cy="69554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1B637A3-C982-025E-3F75-45E8BB8CD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97" y="3710651"/>
            <a:ext cx="3569555" cy="27822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C391ECF-8E5B-57E9-789D-8A0B11BB4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733" y="3729419"/>
            <a:ext cx="6968094" cy="276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5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C6BB0-0CA9-1E8C-BB5C-D27161EF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Microphone Array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B41781-D23C-692E-34FE-0FE59517A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21" y="3174230"/>
            <a:ext cx="5658548" cy="3039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2B25D3-3421-B023-BFEB-044E8649AC57}"/>
              </a:ext>
            </a:extLst>
          </p:cNvPr>
          <p:cNvSpPr txBox="1"/>
          <p:nvPr/>
        </p:nvSpPr>
        <p:spPr>
          <a:xfrm>
            <a:off x="838200" y="1475680"/>
            <a:ext cx="9874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Smart speaker has many microphones (usually located in a circle)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966D6-AE75-892E-A7DB-CBC02D1D12A2}"/>
              </a:ext>
            </a:extLst>
          </p:cNvPr>
          <p:cNvSpPr txBox="1"/>
          <p:nvPr/>
        </p:nvSpPr>
        <p:spPr>
          <a:xfrm>
            <a:off x="838200" y="2245664"/>
            <a:ext cx="10221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DC Removal, AEC, HPF are applied for each microphone separately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08CF3-C625-CA6C-C0E5-29B6152B8C1B}"/>
              </a:ext>
            </a:extLst>
          </p:cNvPr>
          <p:cNvSpPr txBox="1"/>
          <p:nvPr/>
        </p:nvSpPr>
        <p:spPr>
          <a:xfrm>
            <a:off x="838199" y="3015648"/>
            <a:ext cx="48984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Next steps: determine angle of each voice source in room (Direction of Arrival) and amplify sound for direction from user / mute sound for direction from TV (Beamforming)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0214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CCAF3-0B33-71DF-ACE4-E041E93A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 of Arrival (DOA)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D1F33F-4010-8674-5F2D-7FC0CDDEB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682" y="1607845"/>
            <a:ext cx="3827016" cy="2877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78F71-6CFE-0099-128A-C345E6DF8A0C}"/>
              </a:ext>
            </a:extLst>
          </p:cNvPr>
          <p:cNvSpPr txBox="1"/>
          <p:nvPr/>
        </p:nvSpPr>
        <p:spPr>
          <a:xfrm>
            <a:off x="838200" y="1475680"/>
            <a:ext cx="7179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 microphone array located in a line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95A33-4A9A-115C-98B7-60D1F3A2C74A}"/>
              </a:ext>
            </a:extLst>
          </p:cNvPr>
          <p:cNvSpPr txBox="1"/>
          <p:nvPr/>
        </p:nvSpPr>
        <p:spPr>
          <a:xfrm>
            <a:off x="1250483" y="2152253"/>
            <a:ext cx="5612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distance between two microphones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D7AF5B-691F-77CC-6780-B0CDCB07F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32" y="2212411"/>
            <a:ext cx="265202" cy="36163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38F17B8-C0B6-EA3E-C042-3A962A712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7" y="2764217"/>
            <a:ext cx="1460070" cy="690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10582A-5D29-1950-562C-3369D16B139B}"/>
              </a:ext>
            </a:extLst>
          </p:cNvPr>
          <p:cNvSpPr txBox="1"/>
          <p:nvPr/>
        </p:nvSpPr>
        <p:spPr>
          <a:xfrm>
            <a:off x="2519414" y="2860391"/>
            <a:ext cx="5612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delay in time (phase) for input signal on two microphones, c – sound speed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BB1762-7333-0299-6191-59B032234612}"/>
              </a:ext>
            </a:extLst>
          </p:cNvPr>
          <p:cNvSpPr txBox="1"/>
          <p:nvPr/>
        </p:nvSpPr>
        <p:spPr>
          <a:xfrm>
            <a:off x="976457" y="4414379"/>
            <a:ext cx="6733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delay by maximizing cross-correlation:</a:t>
            </a:r>
            <a:endParaRPr lang="ru-RU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3C2BB0C-33E4-68D8-DB28-B96DCC51A4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67" y="5041916"/>
            <a:ext cx="4691311" cy="7463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59DD49-EBB3-FD88-BAD6-68A91418DCF7}"/>
              </a:ext>
            </a:extLst>
          </p:cNvPr>
          <p:cNvSpPr txBox="1"/>
          <p:nvPr/>
        </p:nvSpPr>
        <p:spPr>
          <a:xfrm>
            <a:off x="976457" y="5892578"/>
            <a:ext cx="2729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Estimated angle:</a:t>
            </a:r>
            <a:endParaRPr lang="ru-RU" sz="28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6F45A8-C562-2B63-6B70-3CFEA9C37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562" y="5864557"/>
            <a:ext cx="1794586" cy="68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04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9C76D-E7DF-D623-56D8-EB8CF0B2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C4E42-FA02-EEBF-0720-09E65D2C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GCC-PHAT for DOA</a:t>
            </a:r>
            <a:r>
              <a:rPr lang="ru-RU" dirty="0"/>
              <a:t> (</a:t>
            </a:r>
            <a:r>
              <a:rPr lang="en-US" dirty="0"/>
              <a:t>Generalized Cross-Correlation with </a:t>
            </a:r>
            <a:r>
              <a:rPr lang="en-US" dirty="0" err="1"/>
              <a:t>PHAse</a:t>
            </a:r>
            <a:r>
              <a:rPr lang="en-US" dirty="0"/>
              <a:t> Transform)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DFEB5-2DD3-26AC-618C-500CDEF47997}"/>
              </a:ext>
            </a:extLst>
          </p:cNvPr>
          <p:cNvSpPr txBox="1"/>
          <p:nvPr/>
        </p:nvSpPr>
        <p:spPr>
          <a:xfrm>
            <a:off x="838199" y="1860691"/>
            <a:ext cx="10721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rooms with strong echo, voice wall reflection can lead to false peaks in cross-correlation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D38AD9-01EF-C0DF-BA55-D3ACE1813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97" y="3562084"/>
            <a:ext cx="4823749" cy="4064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734B48E-A285-D6EF-41B1-301C4CED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97" y="4118377"/>
            <a:ext cx="8355168" cy="52322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668AAAD-6A27-348C-EEF1-DAF9186EF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44" y="4702670"/>
            <a:ext cx="3872357" cy="8703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236DC63-B8EF-DE87-3D1F-29A1F8A9C180}"/>
              </a:ext>
            </a:extLst>
          </p:cNvPr>
          <p:cNvSpPr txBox="1"/>
          <p:nvPr/>
        </p:nvSpPr>
        <p:spPr>
          <a:xfrm>
            <a:off x="846223" y="2908242"/>
            <a:ext cx="10721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suppress information about amplitudes and consider only phases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89768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7438A-EA40-7CA9-35A8-06379350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87C29-85AE-179C-ECF9-B811EADD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GCC-PHAT vs. Cross-Correlation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F3D90F-9B4C-4E74-BAD5-B471C8070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413" y="1436393"/>
            <a:ext cx="8010951" cy="26009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F46196-C0C8-99CF-0915-0C496BE71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64" y="4139874"/>
            <a:ext cx="8010951" cy="26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9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54D27-40A3-AB24-EF17-119E2CDB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Delay-and-Sum Beamforming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4F372-9388-ABE3-3C97-2911631A5064}"/>
              </a:ext>
            </a:extLst>
          </p:cNvPr>
          <p:cNvSpPr txBox="1"/>
          <p:nvPr/>
        </p:nvSpPr>
        <p:spPr>
          <a:xfrm>
            <a:off x="838201" y="1541455"/>
            <a:ext cx="8796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artificially delay signals from microphones and sum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C39EEE-E242-A409-066D-3DA7A9941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54" y="2093551"/>
            <a:ext cx="3298994" cy="9659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FAB4D6-BDB8-BF42-A250-293B465806D1}"/>
              </a:ext>
            </a:extLst>
          </p:cNvPr>
          <p:cNvSpPr txBox="1"/>
          <p:nvPr/>
        </p:nvSpPr>
        <p:spPr>
          <a:xfrm>
            <a:off x="886329" y="3138515"/>
            <a:ext cx="3522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frequency domain: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6EE71-7758-D496-4EB5-368CFE4D1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78" y="3704465"/>
            <a:ext cx="4493371" cy="934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57B9E2-6569-73F8-6BBD-ECA8700B8A31}"/>
              </a:ext>
            </a:extLst>
          </p:cNvPr>
          <p:cNvSpPr txBox="1"/>
          <p:nvPr/>
        </p:nvSpPr>
        <p:spPr>
          <a:xfrm>
            <a:off x="915203" y="4840584"/>
            <a:ext cx="10615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MVDR (Minimum Variance </a:t>
            </a:r>
            <a:r>
              <a:rPr lang="en-US" sz="2800" dirty="0" err="1"/>
              <a:t>Distortionless</a:t>
            </a:r>
            <a:r>
              <a:rPr lang="en-US" sz="2800" dirty="0"/>
              <a:t> Response) – more advanced Beamformer, that can amplify user signal and mute noise sources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36492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41A5F-5AFA-2222-434C-1EDF4677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Voice Activity Detection (VAD)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18393-9BE2-A03F-98EA-2141409039B1}"/>
              </a:ext>
            </a:extLst>
          </p:cNvPr>
          <p:cNvSpPr txBox="1"/>
          <p:nvPr/>
        </p:nvSpPr>
        <p:spPr>
          <a:xfrm>
            <a:off x="838200" y="1548744"/>
            <a:ext cx="10943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Goal:</a:t>
            </a:r>
            <a:r>
              <a:rPr lang="en-US" sz="2800" dirty="0"/>
              <a:t> determine for given audio fragment: human voice vs something else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BC0CA-4019-99CB-A92D-962C0CD7AB4C}"/>
              </a:ext>
            </a:extLst>
          </p:cNvPr>
          <p:cNvSpPr txBox="1"/>
          <p:nvPr/>
        </p:nvSpPr>
        <p:spPr>
          <a:xfrm>
            <a:off x="847825" y="2364170"/>
            <a:ext cx="3724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Energy for audio frame: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70788-282E-3979-528E-CB29A2D7FE40}"/>
              </a:ext>
            </a:extLst>
          </p:cNvPr>
          <p:cNvSpPr txBox="1"/>
          <p:nvPr/>
        </p:nvSpPr>
        <p:spPr>
          <a:xfrm>
            <a:off x="846224" y="3228839"/>
            <a:ext cx="3167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Zero Crossing Rate: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3F1F8A-06BE-E749-1304-08219A2A5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828" y="3113335"/>
            <a:ext cx="5054860" cy="8128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559932-E9A7-4372-A314-5BAD1A4D9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121" y="2151648"/>
            <a:ext cx="1732547" cy="9868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710B47-8959-531C-D580-6310CA419332}"/>
              </a:ext>
            </a:extLst>
          </p:cNvPr>
          <p:cNvSpPr txBox="1"/>
          <p:nvPr/>
        </p:nvSpPr>
        <p:spPr>
          <a:xfrm>
            <a:off x="838200" y="4175561"/>
            <a:ext cx="2838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Spectral Flatness: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02086CF-F43F-1006-9FF1-9F0C5F90B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127" y="3979478"/>
            <a:ext cx="2540131" cy="9779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8C9728-45AF-D8CF-6BC9-43C723BA02D4}"/>
              </a:ext>
            </a:extLst>
          </p:cNvPr>
          <p:cNvSpPr txBox="1"/>
          <p:nvPr/>
        </p:nvSpPr>
        <p:spPr>
          <a:xfrm>
            <a:off x="838199" y="5122283"/>
            <a:ext cx="975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VAD: If Energy is high, ZCR is low and SF is low then human voice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32047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94866-4308-C9A7-A8DC-82535A02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based VAD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B955B-A72B-6D0F-3F82-B63DA307E016}"/>
              </a:ext>
            </a:extLst>
          </p:cNvPr>
          <p:cNvSpPr txBox="1"/>
          <p:nvPr/>
        </p:nvSpPr>
        <p:spPr>
          <a:xfrm>
            <a:off x="703444" y="4322786"/>
            <a:ext cx="2236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Audio </a:t>
            </a:r>
            <a:r>
              <a:rPr lang="de-DE" sz="2400" dirty="0" err="1"/>
              <a:t>waveform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5F570-05F1-D03E-8302-4AF1935B5D1E}"/>
              </a:ext>
            </a:extLst>
          </p:cNvPr>
          <p:cNvSpPr txBox="1"/>
          <p:nvPr/>
        </p:nvSpPr>
        <p:spPr>
          <a:xfrm>
            <a:off x="4810979" y="4322786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MFCC </a:t>
            </a:r>
            <a:r>
              <a:rPr lang="de-DE" sz="2400" dirty="0" err="1"/>
              <a:t>Spectrogram</a:t>
            </a:r>
            <a:r>
              <a:rPr lang="de-DE" sz="2400" dirty="0"/>
              <a:t> </a:t>
            </a:r>
          </a:p>
          <a:p>
            <a:r>
              <a:rPr lang="de-DE" sz="2400" dirty="0"/>
              <a:t>(</a:t>
            </a:r>
            <a:r>
              <a:rPr lang="de-DE" sz="2400" dirty="0" err="1"/>
              <a:t>or</a:t>
            </a:r>
            <a:r>
              <a:rPr lang="de-DE" sz="2400" dirty="0"/>
              <a:t> Log-Mel-</a:t>
            </a:r>
            <a:r>
              <a:rPr lang="de-DE" sz="2400" dirty="0" err="1"/>
              <a:t>Spectrogram</a:t>
            </a:r>
            <a:r>
              <a:rPr lang="de-DE" sz="2400" dirty="0"/>
              <a:t>)</a:t>
            </a:r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B98E0-0143-08E5-DFF4-2F2C6A87A8CD}"/>
              </a:ext>
            </a:extLst>
          </p:cNvPr>
          <p:cNvSpPr txBox="1"/>
          <p:nvPr/>
        </p:nvSpPr>
        <p:spPr>
          <a:xfrm>
            <a:off x="9372465" y="2890072"/>
            <a:ext cx="250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Class </a:t>
            </a:r>
            <a:r>
              <a:rPr lang="de-DE" sz="2400" dirty="0" err="1"/>
              <a:t>label</a:t>
            </a:r>
            <a:r>
              <a:rPr lang="de-DE" sz="2400" dirty="0"/>
              <a:t> (human / non-human)</a:t>
            </a:r>
            <a:endParaRPr lang="ru-RU" sz="2400" dirty="0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F6FE894A-F557-4376-ED93-AB3C4EEB4B13}"/>
              </a:ext>
            </a:extLst>
          </p:cNvPr>
          <p:cNvSpPr/>
          <p:nvPr/>
        </p:nvSpPr>
        <p:spPr>
          <a:xfrm>
            <a:off x="3666553" y="3179753"/>
            <a:ext cx="496529" cy="2083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694F6-E223-1592-035B-6EEF6F112D8F}"/>
              </a:ext>
            </a:extLst>
          </p:cNvPr>
          <p:cNvSpPr txBox="1"/>
          <p:nvPr/>
        </p:nvSpPr>
        <p:spPr>
          <a:xfrm>
            <a:off x="8682736" y="2645778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NN</a:t>
            </a:r>
            <a:endParaRPr lang="ru-RU" sz="2400" dirty="0"/>
          </a:p>
        </p:txBody>
      </p:sp>
      <p:pic>
        <p:nvPicPr>
          <p:cNvPr id="12" name="Picture 6" descr="3.1. Waveform — Introduction to Speech Processing">
            <a:extLst>
              <a:ext uri="{FF2B5EF4-FFF2-40B4-BE49-F238E27FC236}">
                <a16:creationId xmlns:a16="http://schemas.microsoft.com/office/drawing/2014/main" id="{366ED956-EF14-F156-C69C-590F9D029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3" y="2648287"/>
            <a:ext cx="2787466" cy="1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8F36C14-0DBE-9F29-EDB5-939C80E10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480" y="2662727"/>
            <a:ext cx="3924502" cy="1378021"/>
          </a:xfrm>
          <a:prstGeom prst="rect">
            <a:avLst/>
          </a:prstGeom>
        </p:spPr>
      </p:pic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A6C7490E-0A53-5E41-DBAF-0326A3D0C29A}"/>
              </a:ext>
            </a:extLst>
          </p:cNvPr>
          <p:cNvSpPr/>
          <p:nvPr/>
        </p:nvSpPr>
        <p:spPr>
          <a:xfrm>
            <a:off x="8747099" y="3178152"/>
            <a:ext cx="496529" cy="2083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078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08D3-BE6F-3F6F-7693-89C0CD4A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0B114-914C-3E58-8CE3-69892822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based VAD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2A62B87-9771-07FC-D9ED-E2D9E8AEC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342" y="1726963"/>
            <a:ext cx="5064292" cy="194988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DDF42EF-B11D-3D84-1D92-565B223AA15B}"/>
              </a:ext>
            </a:extLst>
          </p:cNvPr>
          <p:cNvSpPr txBox="1"/>
          <p:nvPr/>
        </p:nvSpPr>
        <p:spPr>
          <a:xfrm>
            <a:off x="645693" y="1693483"/>
            <a:ext cx="6149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NN architecture: Time Convolutional Neural Network + (possibly) Recurrent Layers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52565-CAF6-EFD9-72C2-D8062C7C8B73}"/>
              </a:ext>
            </a:extLst>
          </p:cNvPr>
          <p:cNvSpPr txBox="1"/>
          <p:nvPr/>
        </p:nvSpPr>
        <p:spPr>
          <a:xfrm>
            <a:off x="645693" y="2933538"/>
            <a:ext cx="6149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Training: classes 1) Human Voice, 2) Voice + Noise, 3) Voice + Music, 4) Music, 5) House devices, 6) outdoor noise, etc.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7200A-416D-B63F-91D8-876E514D8672}"/>
              </a:ext>
            </a:extLst>
          </p:cNvPr>
          <p:cNvSpPr txBox="1"/>
          <p:nvPr/>
        </p:nvSpPr>
        <p:spPr>
          <a:xfrm>
            <a:off x="644089" y="4491227"/>
            <a:ext cx="6149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Testing: joint probability for all classes with Human Voice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6D4A8-6196-2C13-10EF-E2AF832E2BDD}"/>
              </a:ext>
            </a:extLst>
          </p:cNvPr>
          <p:cNvSpPr txBox="1"/>
          <p:nvPr/>
        </p:nvSpPr>
        <p:spPr>
          <a:xfrm>
            <a:off x="652111" y="5519527"/>
            <a:ext cx="4333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example: </a:t>
            </a:r>
            <a:r>
              <a:rPr lang="en-US" sz="2400" dirty="0" err="1"/>
              <a:t>Silero</a:t>
            </a:r>
            <a:r>
              <a:rPr lang="en-US" sz="2400" dirty="0"/>
              <a:t> VAD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32801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51055-7C87-848D-8C32-2A1A92EA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Word Spotting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B33F6-D3B6-FD42-BFFE-0E16CEAF3DC6}"/>
              </a:ext>
            </a:extLst>
          </p:cNvPr>
          <p:cNvSpPr txBox="1"/>
          <p:nvPr/>
        </p:nvSpPr>
        <p:spPr>
          <a:xfrm>
            <a:off x="703444" y="3254379"/>
            <a:ext cx="2236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Audio </a:t>
            </a:r>
            <a:r>
              <a:rPr lang="de-DE" sz="2400" dirty="0" err="1"/>
              <a:t>waveform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E3691-5A7A-2B10-DD92-749DEE90267E}"/>
              </a:ext>
            </a:extLst>
          </p:cNvPr>
          <p:cNvSpPr txBox="1"/>
          <p:nvPr/>
        </p:nvSpPr>
        <p:spPr>
          <a:xfrm>
            <a:off x="4810979" y="3254379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MFCC </a:t>
            </a:r>
            <a:r>
              <a:rPr lang="de-DE" sz="2400" dirty="0" err="1"/>
              <a:t>Spectrogram</a:t>
            </a:r>
            <a:r>
              <a:rPr lang="de-DE" sz="2400" dirty="0"/>
              <a:t> </a:t>
            </a:r>
          </a:p>
          <a:p>
            <a:r>
              <a:rPr lang="de-DE" sz="2400" dirty="0"/>
              <a:t>(</a:t>
            </a:r>
            <a:r>
              <a:rPr lang="de-DE" sz="2400" dirty="0" err="1"/>
              <a:t>or</a:t>
            </a:r>
            <a:r>
              <a:rPr lang="de-DE" sz="2400" dirty="0"/>
              <a:t> Log-Mel-</a:t>
            </a:r>
            <a:r>
              <a:rPr lang="de-DE" sz="2400" dirty="0" err="1"/>
              <a:t>Spectrogram</a:t>
            </a:r>
            <a:r>
              <a:rPr lang="de-DE" sz="2400" dirty="0"/>
              <a:t>)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07D8E-CF4C-D5AA-198E-83F157DC8DC0}"/>
              </a:ext>
            </a:extLst>
          </p:cNvPr>
          <p:cNvSpPr txBox="1"/>
          <p:nvPr/>
        </p:nvSpPr>
        <p:spPr>
          <a:xfrm>
            <a:off x="9372465" y="1821665"/>
            <a:ext cx="2507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Class </a:t>
            </a:r>
            <a:r>
              <a:rPr lang="de-DE" sz="2400" dirty="0" err="1"/>
              <a:t>label</a:t>
            </a:r>
            <a:r>
              <a:rPr lang="de-DE" sz="2400" dirty="0"/>
              <a:t> („Alexa“/ </a:t>
            </a:r>
            <a:r>
              <a:rPr lang="de-DE" sz="2400" dirty="0" err="1"/>
              <a:t>something</a:t>
            </a:r>
            <a:r>
              <a:rPr lang="de-DE" sz="2400" dirty="0"/>
              <a:t> </a:t>
            </a:r>
            <a:r>
              <a:rPr lang="de-DE" sz="2400" dirty="0" err="1"/>
              <a:t>else</a:t>
            </a:r>
            <a:r>
              <a:rPr lang="de-DE" sz="2400" dirty="0"/>
              <a:t>)</a:t>
            </a:r>
            <a:endParaRPr lang="ru-RU" sz="2400" dirty="0"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16CB96AC-2553-2553-3764-AB2D0C69CC2A}"/>
              </a:ext>
            </a:extLst>
          </p:cNvPr>
          <p:cNvSpPr/>
          <p:nvPr/>
        </p:nvSpPr>
        <p:spPr>
          <a:xfrm>
            <a:off x="3666553" y="2111346"/>
            <a:ext cx="496529" cy="2083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840D9-3FD8-E628-612D-6010712F3A2E}"/>
              </a:ext>
            </a:extLst>
          </p:cNvPr>
          <p:cNvSpPr txBox="1"/>
          <p:nvPr/>
        </p:nvSpPr>
        <p:spPr>
          <a:xfrm>
            <a:off x="8682736" y="1577371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NN</a:t>
            </a:r>
            <a:endParaRPr lang="ru-RU" sz="2400" dirty="0"/>
          </a:p>
        </p:txBody>
      </p:sp>
      <p:pic>
        <p:nvPicPr>
          <p:cNvPr id="9" name="Picture 6" descr="3.1. Waveform — Introduction to Speech Processing">
            <a:extLst>
              <a:ext uri="{FF2B5EF4-FFF2-40B4-BE49-F238E27FC236}">
                <a16:creationId xmlns:a16="http://schemas.microsoft.com/office/drawing/2014/main" id="{C9963FBA-9E91-4F21-5121-C7F721B4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3" y="1579880"/>
            <a:ext cx="2787466" cy="1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5B5085-3393-1BE7-F8EB-412727796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480" y="1594320"/>
            <a:ext cx="3924502" cy="1378021"/>
          </a:xfrm>
          <a:prstGeom prst="rect">
            <a:avLst/>
          </a:prstGeom>
        </p:spPr>
      </p:pic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5DA6D866-999D-4625-DD2C-C02228A50A78}"/>
              </a:ext>
            </a:extLst>
          </p:cNvPr>
          <p:cNvSpPr/>
          <p:nvPr/>
        </p:nvSpPr>
        <p:spPr>
          <a:xfrm>
            <a:off x="8747099" y="2109745"/>
            <a:ext cx="496529" cy="2083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8241A-B191-8955-12E9-C5AAEC953912}"/>
              </a:ext>
            </a:extLst>
          </p:cNvPr>
          <p:cNvSpPr txBox="1"/>
          <p:nvPr/>
        </p:nvSpPr>
        <p:spPr>
          <a:xfrm>
            <a:off x="681528" y="4307485"/>
            <a:ext cx="5708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/>
              <a:t>NN architecture: Temporal CNN + Recurrent </a:t>
            </a:r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9E82A-FD7C-F93E-660C-A5E63E6939C0}"/>
              </a:ext>
            </a:extLst>
          </p:cNvPr>
          <p:cNvSpPr txBox="1"/>
          <p:nvPr/>
        </p:nvSpPr>
        <p:spPr>
          <a:xfrm>
            <a:off x="681528" y="4898926"/>
            <a:ext cx="8864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/>
              <a:t>Learns to separate “Alexa” vs. “Election”, “A Lexus”, “Unleash her”, etc.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91120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3C3B-586B-C607-690B-F1FBB64F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BFA1A-7BF9-9F4A-6726-8D6C896C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+ Key Word Spotting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BF56E-35A0-361F-05C4-E8D1CB25260A}"/>
              </a:ext>
            </a:extLst>
          </p:cNvPr>
          <p:cNvSpPr txBox="1"/>
          <p:nvPr/>
        </p:nvSpPr>
        <p:spPr>
          <a:xfrm>
            <a:off x="838200" y="1594435"/>
            <a:ext cx="7241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/>
              <a:t>VAD is cheap and small network, applied for every frame</a:t>
            </a:r>
            <a:endParaRPr lang="ru-R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AFCC5-09AB-715E-D49A-45920B4C98B6}"/>
              </a:ext>
            </a:extLst>
          </p:cNvPr>
          <p:cNvSpPr txBox="1"/>
          <p:nvPr/>
        </p:nvSpPr>
        <p:spPr>
          <a:xfrm>
            <a:off x="870496" y="2285850"/>
            <a:ext cx="7773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/>
              <a:t>If VAD detects human voice, then local KWS network is asked</a:t>
            </a:r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2F296D-78F6-948F-FF12-DB0B5E4927AF}"/>
              </a:ext>
            </a:extLst>
          </p:cNvPr>
          <p:cNvSpPr txBox="1"/>
          <p:nvPr/>
        </p:nvSpPr>
        <p:spPr>
          <a:xfrm>
            <a:off x="876701" y="3006451"/>
            <a:ext cx="109527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If local KWS detects keyword, then cloud connection is opened and heavy KWS network is asked. This network accounts also for TV advertisement</a:t>
            </a:r>
            <a:endParaRPr lang="ru-R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2630A5-EF8D-56D8-E5DF-229BF41EF245}"/>
              </a:ext>
            </a:extLst>
          </p:cNvPr>
          <p:cNvSpPr txBox="1"/>
          <p:nvPr/>
        </p:nvSpPr>
        <p:spPr>
          <a:xfrm>
            <a:off x="875096" y="4044377"/>
            <a:ext cx="10761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If global KWS detects keyword, then ASR (Automatic Speech Recognition) is started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63299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91810-C56C-BD40-715C-777F940E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ASR pipeline</a:t>
            </a:r>
            <a:endParaRPr lang="ru-RU" dirty="0"/>
          </a:p>
        </p:txBody>
      </p:sp>
      <p:pic>
        <p:nvPicPr>
          <p:cNvPr id="1026" name="Picture 2" descr="What is a Spectrogram? The Producer's Guide to Visual Audio | LANDR">
            <a:extLst>
              <a:ext uri="{FF2B5EF4-FFF2-40B4-BE49-F238E27FC236}">
                <a16:creationId xmlns:a16="http://schemas.microsoft.com/office/drawing/2014/main" id="{69E83AEE-909E-89D9-4050-99D4AA6E9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513" y="2673715"/>
            <a:ext cx="2627697" cy="147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B26C3-9975-0F5B-5BD7-4DC1A44B4AB7}"/>
              </a:ext>
            </a:extLst>
          </p:cNvPr>
          <p:cNvSpPr txBox="1"/>
          <p:nvPr/>
        </p:nvSpPr>
        <p:spPr>
          <a:xfrm>
            <a:off x="9307628" y="3638350"/>
            <a:ext cx="1214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Hello, …</a:t>
            </a:r>
            <a:endParaRPr lang="ru-RU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C795-06D4-9917-0ABA-A4A785B9E7A6}"/>
              </a:ext>
            </a:extLst>
          </p:cNvPr>
          <p:cNvSpPr txBox="1"/>
          <p:nvPr/>
        </p:nvSpPr>
        <p:spPr>
          <a:xfrm>
            <a:off x="1261710" y="4399790"/>
            <a:ext cx="2236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Audio </a:t>
            </a:r>
            <a:r>
              <a:rPr lang="de-DE" sz="2400" dirty="0" err="1"/>
              <a:t>waveform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D37A7-3F75-F78D-2C9D-6FC787958AC1}"/>
              </a:ext>
            </a:extLst>
          </p:cNvPr>
          <p:cNvSpPr txBox="1"/>
          <p:nvPr/>
        </p:nvSpPr>
        <p:spPr>
          <a:xfrm>
            <a:off x="4868728" y="4399790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Log-</a:t>
            </a:r>
            <a:r>
              <a:rPr lang="de-DE" sz="2400" dirty="0"/>
              <a:t>Mel</a:t>
            </a:r>
            <a:r>
              <a:rPr lang="ru-RU" sz="2400" dirty="0"/>
              <a:t>-</a:t>
            </a:r>
            <a:r>
              <a:rPr lang="de-DE" sz="2400" dirty="0" err="1"/>
              <a:t>Spectrogram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5ECF9A-1611-0F78-E460-5F7484E22018}"/>
              </a:ext>
            </a:extLst>
          </p:cNvPr>
          <p:cNvSpPr txBox="1"/>
          <p:nvPr/>
        </p:nvSpPr>
        <p:spPr>
          <a:xfrm>
            <a:off x="9128104" y="4419038"/>
            <a:ext cx="1633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Output </a:t>
            </a:r>
            <a:r>
              <a:rPr lang="de-DE" sz="2400" dirty="0" err="1"/>
              <a:t>text</a:t>
            </a:r>
            <a:endParaRPr lang="ru-RU" sz="2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83F718B4-30AB-B5CD-1148-BBD065D34509}"/>
              </a:ext>
            </a:extLst>
          </p:cNvPr>
          <p:cNvSpPr/>
          <p:nvPr/>
        </p:nvSpPr>
        <p:spPr>
          <a:xfrm>
            <a:off x="3786713" y="4564607"/>
            <a:ext cx="885524" cy="192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55BE52C0-C51C-1EE9-0454-9C81211C5046}"/>
              </a:ext>
            </a:extLst>
          </p:cNvPr>
          <p:cNvSpPr/>
          <p:nvPr/>
        </p:nvSpPr>
        <p:spPr>
          <a:xfrm>
            <a:off x="8050402" y="4553619"/>
            <a:ext cx="885524" cy="192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8A3FF-BAB6-B718-49F4-E857A5E453DE}"/>
              </a:ext>
            </a:extLst>
          </p:cNvPr>
          <p:cNvSpPr txBox="1"/>
          <p:nvPr/>
        </p:nvSpPr>
        <p:spPr>
          <a:xfrm>
            <a:off x="8182220" y="4137696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NN</a:t>
            </a:r>
            <a:endParaRPr lang="ru-RU" sz="2400" dirty="0"/>
          </a:p>
        </p:txBody>
      </p:sp>
      <p:pic>
        <p:nvPicPr>
          <p:cNvPr id="1030" name="Picture 6" descr="3.1. Waveform — Introduction to Speech Processing">
            <a:extLst>
              <a:ext uri="{FF2B5EF4-FFF2-40B4-BE49-F238E27FC236}">
                <a16:creationId xmlns:a16="http://schemas.microsoft.com/office/drawing/2014/main" id="{7D91E789-15AB-8E8C-967F-78FEFF7E3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39" y="2725291"/>
            <a:ext cx="2787466" cy="1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586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4AEF5-D493-DE64-513D-BF965A09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ASR architectures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F526E-DD82-E5B3-0F0A-96FFFFD131F6}"/>
              </a:ext>
            </a:extLst>
          </p:cNvPr>
          <p:cNvSpPr txBox="1"/>
          <p:nvPr/>
        </p:nvSpPr>
        <p:spPr>
          <a:xfrm>
            <a:off x="838200" y="2059806"/>
            <a:ext cx="101161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LAS: encoder-decoder model with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DeepSpeech</a:t>
            </a:r>
            <a:r>
              <a:rPr lang="en-US" sz="2400" dirty="0"/>
              <a:t>: encoder-only model with CTC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RNN-Transducer: encoder-decoder model with monotonic alignment, suitable for streaming ASR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68344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A9EA4-CFB1-80DF-AB6E-B61058F9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Listen, Attend and Spell (LAS, 2015)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C94933-3312-373B-0319-3C8A8A6EC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00" y="1353541"/>
            <a:ext cx="4638660" cy="5504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033E5-CE25-FCEC-A188-41320FD9652B}"/>
              </a:ext>
            </a:extLst>
          </p:cNvPr>
          <p:cNvSpPr txBox="1"/>
          <p:nvPr/>
        </p:nvSpPr>
        <p:spPr>
          <a:xfrm>
            <a:off x="6422195" y="1506022"/>
            <a:ext cx="5680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Architecture: Encoder-Decoder model with attention</a:t>
            </a: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FB9A2-731A-31FD-5D9C-3108139DDC13}"/>
              </a:ext>
            </a:extLst>
          </p:cNvPr>
          <p:cNvSpPr txBox="1"/>
          <p:nvPr/>
        </p:nvSpPr>
        <p:spPr>
          <a:xfrm>
            <a:off x="6422195" y="2071127"/>
            <a:ext cx="4014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Encoder: pyramid bidirectional LSTM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6287D-8E23-6390-831D-D50E1AD0A273}"/>
              </a:ext>
            </a:extLst>
          </p:cNvPr>
          <p:cNvSpPr txBox="1"/>
          <p:nvPr/>
        </p:nvSpPr>
        <p:spPr>
          <a:xfrm>
            <a:off x="6422195" y="3222711"/>
            <a:ext cx="2631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Inference: Beam search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E2A11-D296-CC1E-7FE6-B0A8045A76DE}"/>
              </a:ext>
            </a:extLst>
          </p:cNvPr>
          <p:cNvSpPr txBox="1"/>
          <p:nvPr/>
        </p:nvSpPr>
        <p:spPr>
          <a:xfrm>
            <a:off x="6422195" y="2646919"/>
            <a:ext cx="334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Decoder: autoregressive LSTM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23BD1F-C18E-D951-6235-16579DB0EFF2}"/>
              </a:ext>
            </a:extLst>
          </p:cNvPr>
          <p:cNvSpPr txBox="1"/>
          <p:nvPr/>
        </p:nvSpPr>
        <p:spPr>
          <a:xfrm>
            <a:off x="6422195" y="4386764"/>
            <a:ext cx="5435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Pros:</a:t>
            </a:r>
            <a:r>
              <a:rPr lang="en-US" sz="2000" dirty="0"/>
              <a:t> good quality, ability to use separately pretrained encoder for audio (Conformer-like) and decoder for text (GPT-like)</a:t>
            </a:r>
            <a:endParaRPr lang="ru-R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EBAD0-3029-22D2-A4E0-9F84915651F5}"/>
              </a:ext>
            </a:extLst>
          </p:cNvPr>
          <p:cNvSpPr txBox="1"/>
          <p:nvPr/>
        </p:nvSpPr>
        <p:spPr>
          <a:xfrm>
            <a:off x="6422195" y="5414160"/>
            <a:ext cx="5435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Cons:</a:t>
            </a:r>
            <a:r>
              <a:rPr lang="en-US" sz="2000" dirty="0"/>
              <a:t> very slow on inference, requires full input audio to make recognition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56699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09F22-B59E-C8E9-B6EA-0B99FD20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Speech 2 (2016)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7E055E-A59E-3BD7-5126-BEFF3C814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157" y="5261244"/>
            <a:ext cx="6293773" cy="14705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E03064-7534-BE46-8F54-8888C3710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80" y="1793673"/>
            <a:ext cx="4483975" cy="4527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47E2C1-ED47-D9BC-8284-33127EBD256E}"/>
              </a:ext>
            </a:extLst>
          </p:cNvPr>
          <p:cNvSpPr txBox="1"/>
          <p:nvPr/>
        </p:nvSpPr>
        <p:spPr>
          <a:xfrm>
            <a:off x="5434035" y="1490633"/>
            <a:ext cx="4772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Architecture: Encoder only model + CTC loss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A8B35-FBA0-0AFB-3EEE-ED9E4A4DF644}"/>
              </a:ext>
            </a:extLst>
          </p:cNvPr>
          <p:cNvSpPr txBox="1"/>
          <p:nvPr/>
        </p:nvSpPr>
        <p:spPr>
          <a:xfrm>
            <a:off x="5453286" y="2776387"/>
            <a:ext cx="5777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Inference: beam search + separate language model (non-autoregressive word n-gram model like </a:t>
            </a:r>
            <a:r>
              <a:rPr lang="en-US" sz="2000" dirty="0" err="1"/>
              <a:t>KenLM</a:t>
            </a:r>
            <a:r>
              <a:rPr lang="en-US" sz="2000" dirty="0"/>
              <a:t>)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19633-966E-5F23-C6AD-77A82CA83531}"/>
              </a:ext>
            </a:extLst>
          </p:cNvPr>
          <p:cNvSpPr txBox="1"/>
          <p:nvPr/>
        </p:nvSpPr>
        <p:spPr>
          <a:xfrm>
            <a:off x="5434035" y="1968810"/>
            <a:ext cx="6140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Encoder uses 1) convolutional layers (1d or 2d), 2) RNN layers and 3) FC layers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13752-4CA4-0B17-9761-4F13BF2EB848}"/>
              </a:ext>
            </a:extLst>
          </p:cNvPr>
          <p:cNvSpPr txBox="1"/>
          <p:nvPr/>
        </p:nvSpPr>
        <p:spPr>
          <a:xfrm>
            <a:off x="5443482" y="3872536"/>
            <a:ext cx="2895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Pros:</a:t>
            </a:r>
            <a:r>
              <a:rPr lang="en-US" sz="2000" dirty="0"/>
              <a:t> fast inference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B7ACD-9BA0-32BE-23BA-DE9BB4ABE070}"/>
              </a:ext>
            </a:extLst>
          </p:cNvPr>
          <p:cNvSpPr txBox="1"/>
          <p:nvPr/>
        </p:nvSpPr>
        <p:spPr>
          <a:xfrm>
            <a:off x="5423604" y="4292070"/>
            <a:ext cx="5435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Cons:</a:t>
            </a:r>
            <a:r>
              <a:rPr lang="en-US" sz="2000" dirty="0"/>
              <a:t> requires separate language model, can’t use pretrained text decoder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77837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2958A-6AE9-D0B2-5FBD-A669BE0C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language models on inference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1771049"/>
            <a:ext cx="329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I’ll write it right now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76013-A9AB-1B1E-AC29-C4EEBA384D52}"/>
              </a:ext>
            </a:extLst>
          </p:cNvPr>
          <p:cNvSpPr txBox="1"/>
          <p:nvPr/>
        </p:nvSpPr>
        <p:spPr>
          <a:xfrm>
            <a:off x="838200" y="2261145"/>
            <a:ext cx="7102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Words “write”, “right”, “rite” have almost identical pronunciation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198B0-2930-3151-23BE-3265AC5747BA}"/>
              </a:ext>
            </a:extLst>
          </p:cNvPr>
          <p:cNvSpPr txBox="1"/>
          <p:nvPr/>
        </p:nvSpPr>
        <p:spPr>
          <a:xfrm>
            <a:off x="838200" y="2881397"/>
            <a:ext cx="10596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DeepSpeech</a:t>
            </a:r>
            <a:r>
              <a:rPr lang="en-US" sz="2000" b="1" dirty="0"/>
              <a:t>:</a:t>
            </a:r>
            <a:r>
              <a:rPr lang="en-US" sz="2000" dirty="0"/>
              <a:t> each output token is generated independently from each other =&gt; without separate language model can output “I’ll right it right now”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56907-3B11-2C2C-0697-10832E2690D5}"/>
              </a:ext>
            </a:extLst>
          </p:cNvPr>
          <p:cNvSpPr txBox="1"/>
          <p:nvPr/>
        </p:nvSpPr>
        <p:spPr>
          <a:xfrm>
            <a:off x="838199" y="3851964"/>
            <a:ext cx="10596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LAS:</a:t>
            </a:r>
            <a:r>
              <a:rPr lang="en-US" sz="2000" dirty="0"/>
              <a:t> decoder is autoregressive, next token is generated conditioned on previously generated token =&gt; can show good performance without additional language model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71634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AF4EC-7F48-7708-419D-FAFF25BE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Transducer (RNN-T, 2012)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3F03-6F18-D689-ED2C-4D8B7EB9CC8A}"/>
              </a:ext>
            </a:extLst>
          </p:cNvPr>
          <p:cNvSpPr txBox="1"/>
          <p:nvPr/>
        </p:nvSpPr>
        <p:spPr>
          <a:xfrm>
            <a:off x="838200" y="1771049"/>
            <a:ext cx="10952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Transducer – the best from two worlds (LAS and </a:t>
            </a:r>
            <a:r>
              <a:rPr lang="en-US" sz="2000" dirty="0" err="1"/>
              <a:t>DeepSpeech</a:t>
            </a:r>
            <a:r>
              <a:rPr lang="en-US" sz="2000" dirty="0"/>
              <a:t>): fast inference, can use pretrained models, suitable for streaming ASR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BE27B-B9EC-6863-F7B4-B52068045197}"/>
              </a:ext>
            </a:extLst>
          </p:cNvPr>
          <p:cNvSpPr txBox="1"/>
          <p:nvPr/>
        </p:nvSpPr>
        <p:spPr>
          <a:xfrm>
            <a:off x="838200" y="2714325"/>
            <a:ext cx="72748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ASR alignment between input audio and output text is monotonic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FE5D37-4398-0609-B094-79156E44F5F3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95757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Audio Encoder: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biLSTM</a:t>
                </a:r>
                <a:r>
                  <a:rPr lang="en-US" sz="2000" dirty="0"/>
                  <a:t> or Conformer, for audio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dirty="0"/>
                  <a:t> outputs hidden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FE5D37-4398-0609-B094-79156E44F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9575763" cy="400110"/>
              </a:xfrm>
              <a:prstGeom prst="rect">
                <a:avLst/>
              </a:prstGeom>
              <a:blipFill>
                <a:blip r:embed="rId2"/>
                <a:stretch>
                  <a:fillRect l="-701" t="-9231" b="-26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1D25C-59C0-E22E-5DC7-D980A1AA3536}"/>
                  </a:ext>
                </a:extLst>
              </p:cNvPr>
              <p:cNvSpPr txBox="1"/>
              <p:nvPr/>
            </p:nvSpPr>
            <p:spPr>
              <a:xfrm>
                <a:off x="838200" y="4064500"/>
                <a:ext cx="1086612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Text decoder (prediction network):</a:t>
                </a:r>
                <a:r>
                  <a:rPr lang="en-US" sz="2000" dirty="0"/>
                  <a:t> autoregressive LSTM or GPT, for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/>
                  <a:t> outputs hidden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1D25C-59C0-E22E-5DC7-D980A1AA3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64500"/>
                <a:ext cx="10866120" cy="707886"/>
              </a:xfrm>
              <a:prstGeom prst="rect">
                <a:avLst/>
              </a:prstGeom>
              <a:blipFill>
                <a:blip r:embed="rId3"/>
                <a:stretch>
                  <a:fillRect l="-617" t="-5172" b="-14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3A3C2-2817-DF27-164E-3AF3E8FCB2FC}"/>
                  </a:ext>
                </a:extLst>
              </p:cNvPr>
              <p:cNvSpPr txBox="1"/>
              <p:nvPr/>
            </p:nvSpPr>
            <p:spPr>
              <a:xfrm>
                <a:off x="838200" y="4899258"/>
                <a:ext cx="105966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Joiner network:</a:t>
                </a:r>
                <a:r>
                  <a:rPr lang="en-US" sz="2000" dirty="0"/>
                  <a:t> small MLP, for each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outputs probabilities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all text tokens and additional blank symbol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3A3C2-2817-DF27-164E-3AF3E8FCB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99258"/>
                <a:ext cx="10596613" cy="707886"/>
              </a:xfrm>
              <a:prstGeom prst="rect">
                <a:avLst/>
              </a:prstGeom>
              <a:blipFill>
                <a:blip r:embed="rId4"/>
                <a:stretch>
                  <a:fillRect l="-633" t="-5172" r="-518" b="-14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751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1EEE2-0623-BBF9-043F-2FBCB5CD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RNN-T Inference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BAC77C-9582-5DE4-6572-600133CE6AAE}"/>
                  </a:ext>
                </a:extLst>
              </p:cNvPr>
              <p:cNvSpPr txBox="1"/>
              <p:nvPr/>
            </p:nvSpPr>
            <p:spPr>
              <a:xfrm>
                <a:off x="838200" y="1771049"/>
                <a:ext cx="9317166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- current audio position,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- current text position</a:t>
                </a:r>
              </a:p>
              <a:p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For current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/>
                  <a:t> compute probabilities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from Joiner network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/>
                  <a:t> has the highest probability,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“listen further”, go to step 1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≠∅ </m:t>
                    </m:r>
                  </m:oMath>
                </a14:m>
                <a:r>
                  <a:rPr lang="en-US" sz="2000" dirty="0"/>
                  <a:t>has the highest probability, then output this token,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go to step 1</a:t>
                </a:r>
                <a:endParaRPr lang="ru-RU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BAC77C-9582-5DE4-6572-600133CE6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71049"/>
                <a:ext cx="9317166" cy="2246769"/>
              </a:xfrm>
              <a:prstGeom prst="rect">
                <a:avLst/>
              </a:prstGeom>
              <a:blipFill>
                <a:blip r:embed="rId2"/>
                <a:stretch>
                  <a:fillRect l="-720" t="-1630" b="-40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481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D158B-00BC-A0E7-918B-DB1216AB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RNN-T Training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86A5D9-C8F0-4896-91B4-32092E472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7" y="1442042"/>
            <a:ext cx="3273085" cy="29025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613DC7-D873-EEBE-CB4B-BC3414793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92" y="1999477"/>
            <a:ext cx="3848298" cy="3492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B31363-37F3-59BF-96AA-FE60C868E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92" y="2476872"/>
            <a:ext cx="4057859" cy="3683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A584CF-02E3-67FD-BA3E-950C0304A1FF}"/>
              </a:ext>
            </a:extLst>
          </p:cNvPr>
          <p:cNvSpPr txBox="1"/>
          <p:nvPr/>
        </p:nvSpPr>
        <p:spPr>
          <a:xfrm>
            <a:off x="920817" y="1528616"/>
            <a:ext cx="53535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Consider Drop operation: drop all empty symbols 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62EDBB-DAD6-681A-1F5D-76416A166B8D}"/>
              </a:ext>
            </a:extLst>
          </p:cNvPr>
          <p:cNvSpPr txBox="1"/>
          <p:nvPr/>
        </p:nvSpPr>
        <p:spPr>
          <a:xfrm>
            <a:off x="949692" y="3193282"/>
            <a:ext cx="5706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Loss function for RNN-T is determined by probability:</a:t>
            </a:r>
            <a:endParaRPr lang="ru-RU" sz="2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A8B01B-2252-843D-0642-72F35F477A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42" y="3655870"/>
            <a:ext cx="4343623" cy="9588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10FC4A-0815-4786-5248-544469AEAB85}"/>
              </a:ext>
            </a:extLst>
          </p:cNvPr>
          <p:cNvSpPr txBox="1"/>
          <p:nvPr/>
        </p:nvSpPr>
        <p:spPr>
          <a:xfrm>
            <a:off x="968942" y="4929274"/>
            <a:ext cx="742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Efficient computation of this probability using Dynamic Programming:</a:t>
            </a:r>
            <a:endParaRPr lang="ru-RU" sz="20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88B3BE4-0E7C-0FEE-683A-5F4CD9EBA0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39" y="5399996"/>
            <a:ext cx="6985359" cy="37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04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31D19-D293-2DE4-5EAD-B4B13D53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RNN-T properties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1602276"/>
            <a:ext cx="6391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For ASR streaming let’s process audio in chunks 300-500 </a:t>
            </a:r>
            <a:r>
              <a:rPr lang="en-US" sz="2000" dirty="0" err="1"/>
              <a:t>ms</a:t>
            </a:r>
            <a:endParaRPr lang="ru-RU" sz="2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2218292"/>
            <a:ext cx="9949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Prediction network is autoregressive =&gt; doesn’t need a separate language model on inference</a:t>
            </a:r>
            <a:endParaRPr lang="ru-RU" sz="20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2834308"/>
            <a:ext cx="7270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Can use pretrained models for both audio encoder and text decoder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3765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CD70F-DD1A-06FB-9133-A9346A01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Normalization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813E9-B978-8F68-8A4A-028946708A4B}"/>
              </a:ext>
            </a:extLst>
          </p:cNvPr>
          <p:cNvSpPr txBox="1"/>
          <p:nvPr/>
        </p:nvSpPr>
        <p:spPr>
          <a:xfrm>
            <a:off x="729059" y="1560063"/>
            <a:ext cx="741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Text normalization: transformation of written text to pronounced text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EC8D8-DEFF-B18E-A5A0-C52012585268}"/>
              </a:ext>
            </a:extLst>
          </p:cNvPr>
          <p:cNvSpPr txBox="1"/>
          <p:nvPr/>
        </p:nvSpPr>
        <p:spPr>
          <a:xfrm>
            <a:off x="729059" y="2136808"/>
            <a:ext cx="96776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of input text:</a:t>
            </a:r>
            <a:r>
              <a:rPr lang="en-US" sz="2000" dirty="0"/>
              <a:t> Hi, Dr. Smith! We've seen the report from NASA... it's about $19.99, or 20% off the usual price. I saw it on the news at 3:00 PM. The FBI might investigate, </a:t>
            </a:r>
            <a:r>
              <a:rPr lang="en-US" sz="2000" dirty="0" err="1"/>
              <a:t>y'know</a:t>
            </a:r>
            <a:r>
              <a:rPr lang="en-US" sz="2000" dirty="0"/>
              <a:t>? [laughter]</a:t>
            </a: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6DC02-25D2-94C6-BBC8-3C7AEBFC9062}"/>
              </a:ext>
            </a:extLst>
          </p:cNvPr>
          <p:cNvSpPr txBox="1"/>
          <p:nvPr/>
        </p:nvSpPr>
        <p:spPr>
          <a:xfrm>
            <a:off x="729058" y="3429000"/>
            <a:ext cx="96776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of normalized text: </a:t>
            </a:r>
            <a:r>
              <a:rPr lang="en-US" sz="2000" dirty="0"/>
              <a:t>hi doctor smith we have seen the report from </a:t>
            </a:r>
            <a:r>
              <a:rPr lang="en-US" sz="2000" dirty="0" err="1"/>
              <a:t>nasa</a:t>
            </a:r>
            <a:r>
              <a:rPr lang="en-US" sz="2000" dirty="0"/>
              <a:t> it is about nineteen dollars and ninety nine cents or twenty percent off the usual price </a:t>
            </a:r>
            <a:r>
              <a:rPr lang="en-US" sz="2000" dirty="0" err="1"/>
              <a:t>i</a:t>
            </a:r>
            <a:r>
              <a:rPr lang="en-US" sz="2000" dirty="0"/>
              <a:t> saw it on the news at three p m the f b </a:t>
            </a:r>
            <a:r>
              <a:rPr lang="en-US" sz="2000" dirty="0" err="1"/>
              <a:t>i</a:t>
            </a:r>
            <a:r>
              <a:rPr lang="en-US" sz="2000" dirty="0"/>
              <a:t> might investigate you know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A296C-B8A2-32F1-95E4-70F57EAEBD2A}"/>
              </a:ext>
            </a:extLst>
          </p:cNvPr>
          <p:cNvSpPr txBox="1"/>
          <p:nvPr/>
        </p:nvSpPr>
        <p:spPr>
          <a:xfrm>
            <a:off x="729058" y="4721192"/>
            <a:ext cx="100993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Elements of normalization: only lower case letters, no punctuation, numbers are pronounced, abbreviations are pronounced, special signs like $, % are pronounced, etc.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B876E-B79C-003A-AD36-19940D5B2AF5}"/>
              </a:ext>
            </a:extLst>
          </p:cNvPr>
          <p:cNvSpPr txBox="1"/>
          <p:nvPr/>
        </p:nvSpPr>
        <p:spPr>
          <a:xfrm>
            <a:off x="729058" y="5713435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Inverse normalization operation is also needed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32881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6FBCA-D70F-24DE-BF31-E5837B1B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tokenization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5F84E-D5BC-D613-F107-8514B94978A6}"/>
              </a:ext>
            </a:extLst>
          </p:cNvPr>
          <p:cNvSpPr txBox="1"/>
          <p:nvPr/>
        </p:nvSpPr>
        <p:spPr>
          <a:xfrm>
            <a:off x="838199" y="1575184"/>
            <a:ext cx="105155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Three options: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Separate letters:</a:t>
            </a:r>
            <a:r>
              <a:rPr lang="en-US" sz="2000" dirty="0"/>
              <a:t> a, b, c, … + blank, unknown; leads to very long text sequences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Phonemes: </a:t>
            </a:r>
            <a:r>
              <a:rPr lang="pt-BR" sz="2000" dirty="0"/>
              <a:t>hello → [h, ə, l, oʊ]; </a:t>
            </a:r>
            <a:r>
              <a:rPr lang="en-US" sz="2000" dirty="0"/>
              <a:t>logical from linguistics point of view, requires non-trivial Grapheme-To-Phoneme (G2P) and inversed Phoneme-To-Grapheme models </a:t>
            </a:r>
            <a:endParaRPr lang="ru-RU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same letters may correspond to different pronunciation: tough, through, though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same pronunciation may correspond to different words: write, right, rite, wright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Text tokens:</a:t>
            </a:r>
            <a:r>
              <a:rPr lang="en-US" sz="2000" dirty="0"/>
              <a:t> BPE, </a:t>
            </a:r>
            <a:r>
              <a:rPr lang="en-US" sz="2000" dirty="0" err="1"/>
              <a:t>WordPiece</a:t>
            </a:r>
            <a:r>
              <a:rPr lang="en-US" sz="2000" dirty="0"/>
              <a:t>, etc.; modern mostly used approach, also needed in case of pretrained text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09071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2C0B-BF21-C99F-601E-9667CE04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augmentation</a:t>
            </a:r>
            <a:endParaRPr lang="ru-RU" dirty="0"/>
          </a:p>
        </p:txBody>
      </p:sp>
      <p:pic>
        <p:nvPicPr>
          <p:cNvPr id="3074" name="Picture 2" descr="Illustration of SpecAugment, where a new mel-spectrogram is generated... |  Download Scientific Diagram">
            <a:extLst>
              <a:ext uri="{FF2B5EF4-FFF2-40B4-BE49-F238E27FC236}">
                <a16:creationId xmlns:a16="http://schemas.microsoft.com/office/drawing/2014/main" id="{8D7A49E8-3D9E-C6A8-9B97-9ADAEAEA1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014" y="2149393"/>
            <a:ext cx="7372531" cy="199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6B4D07-A0F8-82FD-03B9-5EB2656FAC01}"/>
              </a:ext>
            </a:extLst>
          </p:cNvPr>
          <p:cNvSpPr txBox="1"/>
          <p:nvPr/>
        </p:nvSpPr>
        <p:spPr>
          <a:xfrm>
            <a:off x="838200" y="1555934"/>
            <a:ext cx="7372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/>
              <a:t>SpecAugment</a:t>
            </a:r>
            <a:r>
              <a:rPr lang="en-US" sz="2000" b="1" dirty="0"/>
              <a:t>:</a:t>
            </a:r>
            <a:r>
              <a:rPr lang="en-US" sz="2000" dirty="0"/>
              <a:t> Frequency and Time masking applied to spectrograms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8CB2E-C44E-D060-5BB8-39A841C6C646}"/>
              </a:ext>
            </a:extLst>
          </p:cNvPr>
          <p:cNvSpPr txBox="1"/>
          <p:nvPr/>
        </p:nvSpPr>
        <p:spPr>
          <a:xfrm>
            <a:off x="838200" y="4442719"/>
            <a:ext cx="7390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Noise Injection:</a:t>
            </a:r>
            <a:r>
              <a:rPr lang="en-US" sz="2000" dirty="0"/>
              <a:t> adding different noise to initial audio in time domain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70007-68C7-B4D3-9297-06C50073BC64}"/>
              </a:ext>
            </a:extLst>
          </p:cNvPr>
          <p:cNvSpPr txBox="1"/>
          <p:nvPr/>
        </p:nvSpPr>
        <p:spPr>
          <a:xfrm>
            <a:off x="838200" y="5063839"/>
            <a:ext cx="9498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Acoustic Simulation:</a:t>
            </a:r>
            <a:r>
              <a:rPr lang="en-US" sz="2000" dirty="0"/>
              <a:t> adding filters of time domain audio in order to imitate big lecture hall, small bathroom, etc.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61D84-6B5A-612C-CCB9-E5DD1A877FD2}"/>
              </a:ext>
            </a:extLst>
          </p:cNvPr>
          <p:cNvSpPr txBox="1"/>
          <p:nvPr/>
        </p:nvSpPr>
        <p:spPr>
          <a:xfrm>
            <a:off x="838200" y="5913402"/>
            <a:ext cx="9042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Time and Pitch distortion:</a:t>
            </a:r>
            <a:r>
              <a:rPr lang="en-US" sz="2000" dirty="0"/>
              <a:t> accelerate and slow down audio signal, shifting pitch (F0)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182103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90194D7F5B8E45929A0589A9D61EF9" ma:contentTypeVersion="13" ma:contentTypeDescription="Create a new document." ma:contentTypeScope="" ma:versionID="89b60a63904ed71abc69425d5c74033d">
  <xsd:schema xmlns:xsd="http://www.w3.org/2001/XMLSchema" xmlns:xs="http://www.w3.org/2001/XMLSchema" xmlns:p="http://schemas.microsoft.com/office/2006/metadata/properties" xmlns:ns3="9ca3d5f1-896c-4f19-981e-ff50afc86e84" xmlns:ns4="a7c3f102-a08f-4890-be0b-da0e00c6f645" targetNamespace="http://schemas.microsoft.com/office/2006/metadata/properties" ma:root="true" ma:fieldsID="95037f4be4dd70c1538b7dbf16457fce" ns3:_="" ns4:_="">
    <xsd:import namespace="9ca3d5f1-896c-4f19-981e-ff50afc86e84"/>
    <xsd:import namespace="a7c3f102-a08f-4890-be0b-da0e00c6f64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3d5f1-896c-4f19-981e-ff50afc86e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c3f102-a08f-4890-be0b-da0e00c6f64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a3d5f1-896c-4f19-981e-ff50afc86e8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F93DDB-10CB-4771-867F-3C049BD1CD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3d5f1-896c-4f19-981e-ff50afc86e84"/>
    <ds:schemaRef ds:uri="a7c3f102-a08f-4890-be0b-da0e00c6f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EA5DE8-36C6-49BE-AD0D-BCCC836E2974}">
  <ds:schemaRefs>
    <ds:schemaRef ds:uri="http://purl.org/dc/terms/"/>
    <ds:schemaRef ds:uri="http://schemas.openxmlformats.org/package/2006/metadata/core-properties"/>
    <ds:schemaRef ds:uri="http://www.w3.org/XML/1998/namespace"/>
    <ds:schemaRef ds:uri="9ca3d5f1-896c-4f19-981e-ff50afc86e84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a7c3f102-a08f-4890-be0b-da0e00c6f64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11C9815-F0CD-444E-B399-407294380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2669</TotalTime>
  <Words>1608</Words>
  <Application>Microsoft Office PowerPoint</Application>
  <PresentationFormat>Широкоэкранный</PresentationFormat>
  <Paragraphs>170</Paragraphs>
  <Slides>31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Тема Office</vt:lpstr>
      <vt:lpstr>Algorithms in Smart Speakers</vt:lpstr>
      <vt:lpstr>Algorithms in Smart Speakers</vt:lpstr>
      <vt:lpstr>Adaptive Echo Cancellation</vt:lpstr>
      <vt:lpstr>LMS (Least Mean Square)</vt:lpstr>
      <vt:lpstr>NLMS (Normalized LMS)</vt:lpstr>
      <vt:lpstr>Audio Prefiltering</vt:lpstr>
      <vt:lpstr>Direct Current Offset Removal</vt:lpstr>
      <vt:lpstr>Direct Current Offset Removal</vt:lpstr>
      <vt:lpstr>100 Hz High Pass Filter</vt:lpstr>
      <vt:lpstr>Microphone Array</vt:lpstr>
      <vt:lpstr>Direction of Arrival (DOA)</vt:lpstr>
      <vt:lpstr>GCC-PHAT for DOA (Generalized Cross-Correlation with PHAse Transform)</vt:lpstr>
      <vt:lpstr>GCC-PHAT vs. Cross-Correlation</vt:lpstr>
      <vt:lpstr>Delay-and-Sum Beamforming</vt:lpstr>
      <vt:lpstr>Voice Activity Detection (VAD)</vt:lpstr>
      <vt:lpstr>Neural Network based VAD</vt:lpstr>
      <vt:lpstr>Neural Network based VAD</vt:lpstr>
      <vt:lpstr>Key Word Spotting</vt:lpstr>
      <vt:lpstr>VAD + Key Word Spotting</vt:lpstr>
      <vt:lpstr>ASR pipeline</vt:lpstr>
      <vt:lpstr>ASR architectures</vt:lpstr>
      <vt:lpstr>Listen, Attend and Spell (LAS, 2015)</vt:lpstr>
      <vt:lpstr>Deep Speech 2 (2016)</vt:lpstr>
      <vt:lpstr>Using language models on inference</vt:lpstr>
      <vt:lpstr>RNN Transducer (RNN-T, 2012)</vt:lpstr>
      <vt:lpstr>RNN-T Inference</vt:lpstr>
      <vt:lpstr>RNN-T Training</vt:lpstr>
      <vt:lpstr>RNN-T properties</vt:lpstr>
      <vt:lpstr>Text Normalization</vt:lpstr>
      <vt:lpstr>Text tokenization</vt:lpstr>
      <vt:lpstr>Audio augmentation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237</cp:revision>
  <dcterms:created xsi:type="dcterms:W3CDTF">2016-07-15T17:21:31Z</dcterms:created>
  <dcterms:modified xsi:type="dcterms:W3CDTF">2026-03-24T17:45:31Z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0x0101008990194D7F5B8E45929A0589A9D61EF9</vt:lpwstr>
  </property>
</Properties>
</file>